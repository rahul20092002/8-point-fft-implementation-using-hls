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3"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kumar20092002rk@gmail.com" userId="68e19c637f885cd9" providerId="LiveId" clId="{FB9119B5-E643-4B98-B243-ED39F9A71C90}"/>
    <pc:docChg chg="modSld">
      <pc:chgData name="rahulkumar20092002rk@gmail.com" userId="68e19c637f885cd9" providerId="LiveId" clId="{FB9119B5-E643-4B98-B243-ED39F9A71C90}" dt="2024-12-14T16:51:25.785" v="0" actId="113"/>
      <pc:docMkLst>
        <pc:docMk/>
      </pc:docMkLst>
      <pc:sldChg chg="modSp mod">
        <pc:chgData name="rahulkumar20092002rk@gmail.com" userId="68e19c637f885cd9" providerId="LiveId" clId="{FB9119B5-E643-4B98-B243-ED39F9A71C90}" dt="2024-12-14T16:51:25.785" v="0" actId="113"/>
        <pc:sldMkLst>
          <pc:docMk/>
          <pc:sldMk cId="1790703958" sldId="261"/>
        </pc:sldMkLst>
        <pc:spChg chg="mod">
          <ac:chgData name="rahulkumar20092002rk@gmail.com" userId="68e19c637f885cd9" providerId="LiveId" clId="{FB9119B5-E643-4B98-B243-ED39F9A71C90}" dt="2024-12-14T16:51:25.785" v="0" actId="113"/>
          <ac:spMkLst>
            <pc:docMk/>
            <pc:sldMk cId="1790703958" sldId="261"/>
            <ac:spMk id="6" creationId="{586D4DA3-DA67-ECCC-7973-E0F207F9157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B7ED-43D1-F194-9870-1EB1B4351D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D360A1-FA9D-17F4-CF92-290C14837C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C8380EB-015A-396F-59E3-53C83F627E5B}"/>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5" name="Footer Placeholder 4">
            <a:extLst>
              <a:ext uri="{FF2B5EF4-FFF2-40B4-BE49-F238E27FC236}">
                <a16:creationId xmlns:a16="http://schemas.microsoft.com/office/drawing/2014/main" id="{ACC80427-DDE9-1C0C-849F-EBFB7B95673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4D31E7-F016-C21F-DED6-C002CDE779A4}"/>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2361101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166E3-4BB9-3CFD-99B9-B62EEFEEC0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4C8F8B-E603-492C-742A-50423B666E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DA3CE4-E8FC-4183-19D2-FE76461A4E61}"/>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5" name="Footer Placeholder 4">
            <a:extLst>
              <a:ext uri="{FF2B5EF4-FFF2-40B4-BE49-F238E27FC236}">
                <a16:creationId xmlns:a16="http://schemas.microsoft.com/office/drawing/2014/main" id="{85AA35D2-3396-6614-7D42-14A703B349F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ABBC4F-1A7D-9697-D94F-CB954D6596E8}"/>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2997135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E035F-9E94-995A-F94F-411EBCDBCC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DDF5C81-0689-9425-369F-2FE90A96C6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AB4970-DDE4-89B0-305E-595A312E8D79}"/>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5" name="Footer Placeholder 4">
            <a:extLst>
              <a:ext uri="{FF2B5EF4-FFF2-40B4-BE49-F238E27FC236}">
                <a16:creationId xmlns:a16="http://schemas.microsoft.com/office/drawing/2014/main" id="{1F73DD49-E1DF-0101-D1AC-723E3F8343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B5B229-8569-BC30-D230-9341F960D1EF}"/>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2155038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68A53-FAC2-C15F-044F-041EE82DFE5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7E98BC-DA3F-E6DC-FC18-4B7B3C3D91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370842-F107-29FF-500F-1084D74B48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F0840B-D498-BAAD-E2BA-CAB843915066}"/>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6" name="Footer Placeholder 5">
            <a:extLst>
              <a:ext uri="{FF2B5EF4-FFF2-40B4-BE49-F238E27FC236}">
                <a16:creationId xmlns:a16="http://schemas.microsoft.com/office/drawing/2014/main" id="{152EB151-E9E0-42AA-4265-5683F58C22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BB18BA-1F77-9412-680B-83BA1F17D3BF}"/>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3438199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7979-389B-4230-F43C-C08446B45B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E79D58-1F50-DB0E-7217-E199F32E84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11F516-0160-940A-536F-559A7DBFC9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62E88D-C063-8762-8823-3E45A7D22A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E8378E-38D5-82FA-78F1-EE054FED2D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76843E-A2B4-55BD-9B1C-BE7E2F652883}"/>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8" name="Footer Placeholder 7">
            <a:extLst>
              <a:ext uri="{FF2B5EF4-FFF2-40B4-BE49-F238E27FC236}">
                <a16:creationId xmlns:a16="http://schemas.microsoft.com/office/drawing/2014/main" id="{5DA1B720-16F7-A91D-56C9-AC4C9463A3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F4AF37-2FF2-4383-E762-BF2731A64221}"/>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1020555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9A585-049D-B86F-1844-A5A1CEF6C9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B7D40C-C399-1F23-0B80-6ADA0903F187}"/>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4" name="Footer Placeholder 3">
            <a:extLst>
              <a:ext uri="{FF2B5EF4-FFF2-40B4-BE49-F238E27FC236}">
                <a16:creationId xmlns:a16="http://schemas.microsoft.com/office/drawing/2014/main" id="{F49B3928-C819-80CF-B967-88C5C32144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5FF0559-DD08-9BBA-AD93-34D37B36A022}"/>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3736233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618733-658C-8632-3B83-EC69181EC1AC}"/>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3" name="Footer Placeholder 2">
            <a:extLst>
              <a:ext uri="{FF2B5EF4-FFF2-40B4-BE49-F238E27FC236}">
                <a16:creationId xmlns:a16="http://schemas.microsoft.com/office/drawing/2014/main" id="{BA2FCAD9-9CD2-E2F6-DA99-1D7EF0A4FE8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186CA04-3C9D-9E2D-8B8F-4B4B37ABA489}"/>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2543342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A783-959B-BB62-CB57-7FB3814B6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F51E7E-3D37-7550-C138-6455D0A85A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B5816CF-8FB5-F34C-09A0-B98A7AB137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01996-2145-6079-52F3-4B94D7661ACC}"/>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6" name="Footer Placeholder 5">
            <a:extLst>
              <a:ext uri="{FF2B5EF4-FFF2-40B4-BE49-F238E27FC236}">
                <a16:creationId xmlns:a16="http://schemas.microsoft.com/office/drawing/2014/main" id="{65423FF9-6E2D-BF12-987F-08EBB20A26C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0CD3F4-9F7A-152D-3729-08675E535D1B}"/>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2034914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C833E-316A-328E-96DD-C59E9B14F6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ACE69D-5622-DB07-6341-31A10AAC4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F22C2C-A317-DD36-C0B1-1C82F8DE2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E83E31-7005-9F7E-216B-01B8E41B4A59}"/>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6" name="Footer Placeholder 5">
            <a:extLst>
              <a:ext uri="{FF2B5EF4-FFF2-40B4-BE49-F238E27FC236}">
                <a16:creationId xmlns:a16="http://schemas.microsoft.com/office/drawing/2014/main" id="{214F7B71-3F88-5715-DA3A-6AFBA721C0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6C56CA-8302-27B2-4F44-A98417DF6647}"/>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3408101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91D1C-1514-27B4-DB4F-E8BF0A151A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A06F97-B015-F8DB-C64C-A45B0FD0513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DEC5D4-1801-B127-9E2B-D824EC4389EA}"/>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5" name="Footer Placeholder 4">
            <a:extLst>
              <a:ext uri="{FF2B5EF4-FFF2-40B4-BE49-F238E27FC236}">
                <a16:creationId xmlns:a16="http://schemas.microsoft.com/office/drawing/2014/main" id="{C1F2842B-3AA1-E1F9-EC68-DABF2C4852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6EB636-2630-0AC4-4321-9572C6095E39}"/>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1161451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132D52-7316-4987-E232-53BD7BE129F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0D255A-E393-0903-14A0-8DFDF41EB7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865541-F1EE-C849-4A2C-D38F1BC0BC40}"/>
              </a:ext>
            </a:extLst>
          </p:cNvPr>
          <p:cNvSpPr>
            <a:spLocks noGrp="1"/>
          </p:cNvSpPr>
          <p:nvPr>
            <p:ph type="dt" sz="half" idx="10"/>
          </p:nvPr>
        </p:nvSpPr>
        <p:spPr/>
        <p:txBody>
          <a:bodyPr/>
          <a:lstStyle/>
          <a:p>
            <a:fld id="{164F5EB4-4623-4C0C-8C3A-52B24AE4401A}" type="datetimeFigureOut">
              <a:rPr lang="en-IN" smtClean="0"/>
              <a:t>14-12-2024</a:t>
            </a:fld>
            <a:endParaRPr lang="en-IN"/>
          </a:p>
        </p:txBody>
      </p:sp>
      <p:sp>
        <p:nvSpPr>
          <p:cNvPr id="5" name="Footer Placeholder 4">
            <a:extLst>
              <a:ext uri="{FF2B5EF4-FFF2-40B4-BE49-F238E27FC236}">
                <a16:creationId xmlns:a16="http://schemas.microsoft.com/office/drawing/2014/main" id="{86DE9079-D2C0-49C7-8197-9529CC3924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0A8F4E-C415-62EC-F14C-7F2E63E7AC73}"/>
              </a:ext>
            </a:extLst>
          </p:cNvPr>
          <p:cNvSpPr>
            <a:spLocks noGrp="1"/>
          </p:cNvSpPr>
          <p:nvPr>
            <p:ph type="sldNum" sz="quarter" idx="12"/>
          </p:nvPr>
        </p:nvSpPr>
        <p:spPr/>
        <p:txBody>
          <a:bodyPr/>
          <a:lstStyle/>
          <a:p>
            <a:fld id="{7C64DF42-5235-4452-8D43-E70C7114006B}" type="slidenum">
              <a:rPr lang="en-IN" smtClean="0"/>
              <a:t>‹#›</a:t>
            </a:fld>
            <a:endParaRPr lang="en-IN"/>
          </a:p>
        </p:txBody>
      </p:sp>
    </p:spTree>
    <p:extLst>
      <p:ext uri="{BB962C8B-B14F-4D97-AF65-F5344CB8AC3E}">
        <p14:creationId xmlns:p14="http://schemas.microsoft.com/office/powerpoint/2010/main" val="4288998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2D4741-176B-8B6D-0628-2B42C5FA2A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8EC2BB-8A7C-B0DA-6E0A-1D20D90026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AF14DC-5E1F-4D9D-B917-4625EAB5D8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4F5EB4-4623-4C0C-8C3A-52B24AE4401A}" type="datetimeFigureOut">
              <a:rPr lang="en-IN" smtClean="0"/>
              <a:t>14-12-2024</a:t>
            </a:fld>
            <a:endParaRPr lang="en-IN"/>
          </a:p>
        </p:txBody>
      </p:sp>
      <p:sp>
        <p:nvSpPr>
          <p:cNvPr id="5" name="Footer Placeholder 4">
            <a:extLst>
              <a:ext uri="{FF2B5EF4-FFF2-40B4-BE49-F238E27FC236}">
                <a16:creationId xmlns:a16="http://schemas.microsoft.com/office/drawing/2014/main" id="{AF35C72A-A5CA-006A-D1A4-F062923EF4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7DDBF5A-0074-8DBC-B7D3-8DA89A6DF0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64DF42-5235-4452-8D43-E70C7114006B}" type="slidenum">
              <a:rPr lang="en-IN" smtClean="0"/>
              <a:t>‹#›</a:t>
            </a:fld>
            <a:endParaRPr lang="en-IN"/>
          </a:p>
        </p:txBody>
      </p:sp>
    </p:spTree>
    <p:extLst>
      <p:ext uri="{BB962C8B-B14F-4D97-AF65-F5344CB8AC3E}">
        <p14:creationId xmlns:p14="http://schemas.microsoft.com/office/powerpoint/2010/main" val="6902336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B65C1-1F5E-49D0-063B-53D94CC2414F}"/>
              </a:ext>
            </a:extLst>
          </p:cNvPr>
          <p:cNvSpPr>
            <a:spLocks noGrp="1"/>
          </p:cNvSpPr>
          <p:nvPr>
            <p:ph type="ctrTitle"/>
          </p:nvPr>
        </p:nvSpPr>
        <p:spPr>
          <a:xfrm>
            <a:off x="973393" y="1939413"/>
            <a:ext cx="10245213" cy="2979174"/>
          </a:xfrm>
        </p:spPr>
        <p:txBody>
          <a:bodyPr>
            <a:normAutofit/>
          </a:bodyPr>
          <a:lstStyle/>
          <a:p>
            <a:r>
              <a:rPr lang="en-US" dirty="0"/>
              <a:t>ELD A+ Project</a:t>
            </a:r>
            <a:br>
              <a:rPr lang="en-US" dirty="0"/>
            </a:br>
            <a:r>
              <a:rPr lang="en-US" dirty="0"/>
              <a:t>8-point FFT using HLS</a:t>
            </a:r>
            <a:br>
              <a:rPr lang="en-US" dirty="0"/>
            </a:br>
            <a:endParaRPr lang="en-IN" dirty="0"/>
          </a:p>
        </p:txBody>
      </p:sp>
      <p:sp>
        <p:nvSpPr>
          <p:cNvPr id="3" name="TextBox 2">
            <a:extLst>
              <a:ext uri="{FF2B5EF4-FFF2-40B4-BE49-F238E27FC236}">
                <a16:creationId xmlns:a16="http://schemas.microsoft.com/office/drawing/2014/main" id="{B27DAB95-5C7E-7B59-D9FC-AC623F96F9DB}"/>
              </a:ext>
            </a:extLst>
          </p:cNvPr>
          <p:cNvSpPr txBox="1"/>
          <p:nvPr/>
        </p:nvSpPr>
        <p:spPr>
          <a:xfrm>
            <a:off x="255639" y="5292212"/>
            <a:ext cx="1632155" cy="1200329"/>
          </a:xfrm>
          <a:prstGeom prst="rect">
            <a:avLst/>
          </a:prstGeom>
          <a:noFill/>
        </p:spPr>
        <p:txBody>
          <a:bodyPr wrap="square" rtlCol="0">
            <a:spAutoFit/>
          </a:bodyPr>
          <a:lstStyle/>
          <a:p>
            <a:r>
              <a:rPr lang="en-US" dirty="0"/>
              <a:t>Rahul Kumar</a:t>
            </a:r>
          </a:p>
          <a:p>
            <a:r>
              <a:rPr lang="en-US" dirty="0"/>
              <a:t>2023421</a:t>
            </a:r>
          </a:p>
          <a:p>
            <a:r>
              <a:rPr lang="en-US" dirty="0"/>
              <a:t>B.tech ECE</a:t>
            </a:r>
          </a:p>
          <a:p>
            <a:r>
              <a:rPr lang="en-US" dirty="0"/>
              <a:t>IIIT-Delhi</a:t>
            </a:r>
            <a:endParaRPr lang="en-IN" dirty="0"/>
          </a:p>
        </p:txBody>
      </p:sp>
    </p:spTree>
    <p:extLst>
      <p:ext uri="{BB962C8B-B14F-4D97-AF65-F5344CB8AC3E}">
        <p14:creationId xmlns:p14="http://schemas.microsoft.com/office/powerpoint/2010/main" val="4226010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42842-FF33-F371-5EC2-C547999404B1}"/>
              </a:ext>
            </a:extLst>
          </p:cNvPr>
          <p:cNvSpPr>
            <a:spLocks noGrp="1"/>
          </p:cNvSpPr>
          <p:nvPr>
            <p:ph type="title"/>
          </p:nvPr>
        </p:nvSpPr>
        <p:spPr/>
        <p:txBody>
          <a:bodyPr/>
          <a:lstStyle/>
          <a:p>
            <a:r>
              <a:rPr lang="en-US" b="1" dirty="0"/>
              <a:t>Introduction to the project</a:t>
            </a:r>
            <a:endParaRPr lang="en-IN" b="1" dirty="0"/>
          </a:p>
        </p:txBody>
      </p:sp>
      <p:sp>
        <p:nvSpPr>
          <p:cNvPr id="3" name="Content Placeholder 2">
            <a:extLst>
              <a:ext uri="{FF2B5EF4-FFF2-40B4-BE49-F238E27FC236}">
                <a16:creationId xmlns:a16="http://schemas.microsoft.com/office/drawing/2014/main" id="{770C91B6-AA5E-C31B-7D71-9610ADE2165B}"/>
              </a:ext>
            </a:extLst>
          </p:cNvPr>
          <p:cNvSpPr>
            <a:spLocks noGrp="1"/>
          </p:cNvSpPr>
          <p:nvPr>
            <p:ph idx="1"/>
          </p:nvPr>
        </p:nvSpPr>
        <p:spPr/>
        <p:txBody>
          <a:bodyPr>
            <a:normAutofit fontScale="92500" lnSpcReduction="10000"/>
          </a:bodyPr>
          <a:lstStyle/>
          <a:p>
            <a:pPr marL="0" indent="0">
              <a:buNone/>
            </a:pPr>
            <a:r>
              <a:rPr lang="en-US" b="1" dirty="0"/>
              <a:t>Objectives: </a:t>
            </a:r>
            <a:r>
              <a:rPr lang="en-US" dirty="0"/>
              <a:t>To</a:t>
            </a:r>
            <a:r>
              <a:rPr lang="en-US" b="1" dirty="0"/>
              <a:t> </a:t>
            </a:r>
            <a:r>
              <a:rPr lang="en-US" dirty="0"/>
              <a:t>understand Vivado High Level Synthesis (HLS) Tool which converts C/C++ code into Verilog, and create a hardware IP for FFT using this tool.</a:t>
            </a:r>
          </a:p>
          <a:p>
            <a:pPr marL="0" indent="0">
              <a:buNone/>
            </a:pPr>
            <a:r>
              <a:rPr lang="en-US" b="1" dirty="0"/>
              <a:t>Tools: </a:t>
            </a:r>
            <a:r>
              <a:rPr lang="en-US" dirty="0"/>
              <a:t>Vivado HLS, Vivado</a:t>
            </a:r>
          </a:p>
          <a:p>
            <a:pPr marL="0" indent="0">
              <a:buNone/>
            </a:pPr>
            <a:r>
              <a:rPr lang="en-US" b="1" dirty="0"/>
              <a:t>Applications of FFT in the modern world:</a:t>
            </a:r>
          </a:p>
          <a:p>
            <a:pPr marL="971550" lvl="1" indent="-514350">
              <a:buFont typeface="+mj-lt"/>
              <a:buAutoNum type="arabicPeriod"/>
            </a:pPr>
            <a:r>
              <a:rPr lang="en-US" dirty="0"/>
              <a:t>Wireless communications</a:t>
            </a:r>
          </a:p>
          <a:p>
            <a:pPr marL="971550" lvl="1" indent="-514350">
              <a:buFont typeface="+mj-lt"/>
              <a:buAutoNum type="arabicPeriod"/>
            </a:pPr>
            <a:r>
              <a:rPr lang="en-US" dirty="0"/>
              <a:t>Signal processing</a:t>
            </a:r>
          </a:p>
          <a:p>
            <a:pPr marL="971550" lvl="1" indent="-514350">
              <a:buFont typeface="+mj-lt"/>
              <a:buAutoNum type="arabicPeriod"/>
            </a:pPr>
            <a:r>
              <a:rPr lang="en-US" dirty="0"/>
              <a:t>Images and video processing </a:t>
            </a:r>
          </a:p>
          <a:p>
            <a:pPr marL="0" indent="0">
              <a:buNone/>
            </a:pPr>
            <a:r>
              <a:rPr lang="en-US" b="1" dirty="0"/>
              <a:t>Application of HLS:</a:t>
            </a:r>
          </a:p>
          <a:p>
            <a:pPr marL="457200" lvl="1" indent="0">
              <a:buNone/>
            </a:pPr>
            <a:r>
              <a:rPr lang="en-US" dirty="0"/>
              <a:t>This application used in digital hardware design to develop circuit for hardware using C/C++ instead of traditional hardware description languages (HDLs) like Verilog or VHDL.</a:t>
            </a:r>
          </a:p>
          <a:p>
            <a:pPr marL="971550" lvl="1" indent="-514350">
              <a:buFont typeface="+mj-lt"/>
              <a:buAutoNum type="arabicPeriod"/>
            </a:pPr>
            <a:endParaRPr lang="en-US" b="1" dirty="0"/>
          </a:p>
          <a:p>
            <a:pPr marL="457200" lvl="1" indent="0">
              <a:buNone/>
            </a:pPr>
            <a:endParaRPr lang="en-US" b="1" dirty="0"/>
          </a:p>
        </p:txBody>
      </p:sp>
    </p:spTree>
    <p:extLst>
      <p:ext uri="{BB962C8B-B14F-4D97-AF65-F5344CB8AC3E}">
        <p14:creationId xmlns:p14="http://schemas.microsoft.com/office/powerpoint/2010/main" val="430873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3D807-1ECE-FDAE-1FB0-9EC6ECC1B668}"/>
              </a:ext>
            </a:extLst>
          </p:cNvPr>
          <p:cNvSpPr>
            <a:spLocks noGrp="1"/>
          </p:cNvSpPr>
          <p:nvPr>
            <p:ph type="title"/>
          </p:nvPr>
        </p:nvSpPr>
        <p:spPr>
          <a:xfrm>
            <a:off x="838200" y="488490"/>
            <a:ext cx="10515600" cy="1325563"/>
          </a:xfrm>
        </p:spPr>
        <p:txBody>
          <a:bodyPr/>
          <a:lstStyle/>
          <a:p>
            <a:r>
              <a:rPr lang="en-US" b="1" dirty="0"/>
              <a:t>Block Design</a:t>
            </a:r>
            <a:endParaRPr lang="en-IN" b="1" dirty="0"/>
          </a:p>
        </p:txBody>
      </p:sp>
      <p:pic>
        <p:nvPicPr>
          <p:cNvPr id="5" name="Content Placeholder 4">
            <a:extLst>
              <a:ext uri="{FF2B5EF4-FFF2-40B4-BE49-F238E27FC236}">
                <a16:creationId xmlns:a16="http://schemas.microsoft.com/office/drawing/2014/main" id="{A37B1ECB-A7A6-0B6D-C49A-AF8129F25112}"/>
              </a:ext>
            </a:extLst>
          </p:cNvPr>
          <p:cNvPicPr>
            <a:picLocks noGrp="1" noChangeAspect="1"/>
          </p:cNvPicPr>
          <p:nvPr>
            <p:ph idx="1"/>
          </p:nvPr>
        </p:nvPicPr>
        <p:blipFill>
          <a:blip r:embed="rId2"/>
          <a:stretch>
            <a:fillRect/>
          </a:stretch>
        </p:blipFill>
        <p:spPr>
          <a:xfrm>
            <a:off x="3734452" y="1858298"/>
            <a:ext cx="4723096" cy="2349915"/>
          </a:xfrm>
        </p:spPr>
      </p:pic>
      <p:sp>
        <p:nvSpPr>
          <p:cNvPr id="6" name="Rectangle 5">
            <a:extLst>
              <a:ext uri="{FF2B5EF4-FFF2-40B4-BE49-F238E27FC236}">
                <a16:creationId xmlns:a16="http://schemas.microsoft.com/office/drawing/2014/main" id="{FF172A9B-7870-7580-508A-CFD3FDB61147}"/>
              </a:ext>
            </a:extLst>
          </p:cNvPr>
          <p:cNvSpPr/>
          <p:nvPr/>
        </p:nvSpPr>
        <p:spPr>
          <a:xfrm>
            <a:off x="3588774" y="2526890"/>
            <a:ext cx="796413" cy="432620"/>
          </a:xfrm>
          <a:prstGeom prst="rect">
            <a:avLst/>
          </a:prstGeom>
          <a:noFill/>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en-IN" b="1" dirty="0"/>
          </a:p>
        </p:txBody>
      </p:sp>
      <p:sp>
        <p:nvSpPr>
          <p:cNvPr id="7" name="Rectangle 6">
            <a:extLst>
              <a:ext uri="{FF2B5EF4-FFF2-40B4-BE49-F238E27FC236}">
                <a16:creationId xmlns:a16="http://schemas.microsoft.com/office/drawing/2014/main" id="{262D7936-D991-DE6D-025E-2B6CA4E7B20C}"/>
              </a:ext>
            </a:extLst>
          </p:cNvPr>
          <p:cNvSpPr/>
          <p:nvPr/>
        </p:nvSpPr>
        <p:spPr>
          <a:xfrm>
            <a:off x="7806812" y="2684210"/>
            <a:ext cx="796413" cy="698090"/>
          </a:xfrm>
          <a:prstGeom prst="rect">
            <a:avLst/>
          </a:prstGeom>
          <a:noFill/>
          <a:ln w="28575">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Connector: Elbow 21">
            <a:extLst>
              <a:ext uri="{FF2B5EF4-FFF2-40B4-BE49-F238E27FC236}">
                <a16:creationId xmlns:a16="http://schemas.microsoft.com/office/drawing/2014/main" id="{709AF966-9E45-6106-D98D-66004813A9D6}"/>
              </a:ext>
            </a:extLst>
          </p:cNvPr>
          <p:cNvCxnSpPr>
            <a:cxnSpLocks/>
            <a:stCxn id="6" idx="1"/>
          </p:cNvCxnSpPr>
          <p:nvPr/>
        </p:nvCxnSpPr>
        <p:spPr>
          <a:xfrm rot="10800000" flipV="1">
            <a:off x="2664542" y="2743199"/>
            <a:ext cx="924232" cy="1256063"/>
          </a:xfrm>
          <a:prstGeom prst="bentConnector2">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547F2AB-E4C7-94B9-2832-9C5833A4AF3A}"/>
              </a:ext>
            </a:extLst>
          </p:cNvPr>
          <p:cNvSpPr txBox="1"/>
          <p:nvPr/>
        </p:nvSpPr>
        <p:spPr>
          <a:xfrm>
            <a:off x="1769805" y="4025149"/>
            <a:ext cx="1789471" cy="1477328"/>
          </a:xfrm>
          <a:prstGeom prst="rect">
            <a:avLst/>
          </a:prstGeom>
          <a:noFill/>
        </p:spPr>
        <p:txBody>
          <a:bodyPr wrap="square" rtlCol="0">
            <a:spAutoFit/>
          </a:bodyPr>
          <a:lstStyle/>
          <a:p>
            <a:r>
              <a:rPr lang="en-US" dirty="0">
                <a:solidFill>
                  <a:schemeClr val="accent6"/>
                </a:solidFill>
              </a:rPr>
              <a:t>This port is used to take the input data from the PS to perform the FFT operation</a:t>
            </a:r>
            <a:endParaRPr lang="en-IN" dirty="0">
              <a:solidFill>
                <a:schemeClr val="accent6"/>
              </a:solidFill>
            </a:endParaRPr>
          </a:p>
        </p:txBody>
      </p:sp>
      <p:cxnSp>
        <p:nvCxnSpPr>
          <p:cNvPr id="26" name="Connector: Elbow 25">
            <a:extLst>
              <a:ext uri="{FF2B5EF4-FFF2-40B4-BE49-F238E27FC236}">
                <a16:creationId xmlns:a16="http://schemas.microsoft.com/office/drawing/2014/main" id="{9F3C1DC8-366D-979E-0D41-899EBF4E37E0}"/>
              </a:ext>
            </a:extLst>
          </p:cNvPr>
          <p:cNvCxnSpPr>
            <a:stCxn id="7" idx="3"/>
          </p:cNvCxnSpPr>
          <p:nvPr/>
        </p:nvCxnSpPr>
        <p:spPr>
          <a:xfrm>
            <a:off x="8603225" y="3033255"/>
            <a:ext cx="924232" cy="1292939"/>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DFA253F-75B4-7EC0-B87A-4DE1FE116559}"/>
              </a:ext>
            </a:extLst>
          </p:cNvPr>
          <p:cNvSpPr txBox="1"/>
          <p:nvPr/>
        </p:nvSpPr>
        <p:spPr>
          <a:xfrm>
            <a:off x="8750709" y="4414684"/>
            <a:ext cx="1927122" cy="1200329"/>
          </a:xfrm>
          <a:prstGeom prst="rect">
            <a:avLst/>
          </a:prstGeom>
          <a:noFill/>
        </p:spPr>
        <p:txBody>
          <a:bodyPr wrap="square" rtlCol="0">
            <a:spAutoFit/>
          </a:bodyPr>
          <a:lstStyle/>
          <a:p>
            <a:r>
              <a:rPr lang="en-US" dirty="0">
                <a:solidFill>
                  <a:schemeClr val="accent1"/>
                </a:solidFill>
              </a:rPr>
              <a:t>This port is used to transfer the generated output back to PS</a:t>
            </a:r>
            <a:endParaRPr lang="en-IN" dirty="0">
              <a:solidFill>
                <a:schemeClr val="accent1"/>
              </a:solidFill>
            </a:endParaRPr>
          </a:p>
        </p:txBody>
      </p:sp>
      <p:sp>
        <p:nvSpPr>
          <p:cNvPr id="32" name="Rectangle 31">
            <a:extLst>
              <a:ext uri="{FF2B5EF4-FFF2-40B4-BE49-F238E27FC236}">
                <a16:creationId xmlns:a16="http://schemas.microsoft.com/office/drawing/2014/main" id="{C315C696-7BA2-C88D-86F8-C8B813B17DF7}"/>
              </a:ext>
            </a:extLst>
          </p:cNvPr>
          <p:cNvSpPr/>
          <p:nvPr/>
        </p:nvSpPr>
        <p:spPr>
          <a:xfrm>
            <a:off x="3849329" y="3033255"/>
            <a:ext cx="1071716" cy="594847"/>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Connector: Elbow 35">
            <a:extLst>
              <a:ext uri="{FF2B5EF4-FFF2-40B4-BE49-F238E27FC236}">
                <a16:creationId xmlns:a16="http://schemas.microsoft.com/office/drawing/2014/main" id="{1DED4A18-B93C-A405-B524-AC54E82658E2}"/>
              </a:ext>
            </a:extLst>
          </p:cNvPr>
          <p:cNvCxnSpPr>
            <a:cxnSpLocks/>
            <a:stCxn id="32" idx="2"/>
          </p:cNvCxnSpPr>
          <p:nvPr/>
        </p:nvCxnSpPr>
        <p:spPr>
          <a:xfrm rot="16200000" flipH="1">
            <a:off x="4316361" y="3696928"/>
            <a:ext cx="1514169" cy="1376516"/>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9C6B6E15-E579-AC20-F217-C7786EA2C05C}"/>
              </a:ext>
            </a:extLst>
          </p:cNvPr>
          <p:cNvSpPr txBox="1"/>
          <p:nvPr/>
        </p:nvSpPr>
        <p:spPr>
          <a:xfrm>
            <a:off x="4852219" y="5230761"/>
            <a:ext cx="2482645" cy="1200329"/>
          </a:xfrm>
          <a:prstGeom prst="rect">
            <a:avLst/>
          </a:prstGeom>
          <a:noFill/>
        </p:spPr>
        <p:txBody>
          <a:bodyPr wrap="square" rtlCol="0">
            <a:spAutoFit/>
          </a:bodyPr>
          <a:lstStyle/>
          <a:p>
            <a:r>
              <a:rPr lang="en-US" dirty="0"/>
              <a:t>These two ports are used form giving clock signal and reset signal to the FFT</a:t>
            </a:r>
            <a:endParaRPr lang="en-IN" dirty="0"/>
          </a:p>
        </p:txBody>
      </p:sp>
    </p:spTree>
    <p:extLst>
      <p:ext uri="{BB962C8B-B14F-4D97-AF65-F5344CB8AC3E}">
        <p14:creationId xmlns:p14="http://schemas.microsoft.com/office/powerpoint/2010/main" val="3838003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6903E-766A-62F6-28C0-7541AD17B795}"/>
              </a:ext>
            </a:extLst>
          </p:cNvPr>
          <p:cNvSpPr>
            <a:spLocks noGrp="1"/>
          </p:cNvSpPr>
          <p:nvPr>
            <p:ph type="title"/>
          </p:nvPr>
        </p:nvSpPr>
        <p:spPr/>
        <p:txBody>
          <a:bodyPr/>
          <a:lstStyle/>
          <a:p>
            <a:r>
              <a:rPr lang="en-US" b="1" dirty="0"/>
              <a:t>Block Design</a:t>
            </a:r>
            <a:endParaRPr lang="en-IN" b="1" dirty="0"/>
          </a:p>
        </p:txBody>
      </p:sp>
      <p:pic>
        <p:nvPicPr>
          <p:cNvPr id="5" name="Content Placeholder 4">
            <a:extLst>
              <a:ext uri="{FF2B5EF4-FFF2-40B4-BE49-F238E27FC236}">
                <a16:creationId xmlns:a16="http://schemas.microsoft.com/office/drawing/2014/main" id="{E05538B4-7403-ED55-45B6-BBB0138E63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06190" y="2345861"/>
            <a:ext cx="4147017" cy="2166277"/>
          </a:xfrm>
        </p:spPr>
      </p:pic>
      <p:sp>
        <p:nvSpPr>
          <p:cNvPr id="6" name="TextBox 5">
            <a:extLst>
              <a:ext uri="{FF2B5EF4-FFF2-40B4-BE49-F238E27FC236}">
                <a16:creationId xmlns:a16="http://schemas.microsoft.com/office/drawing/2014/main" id="{81B8DEB1-B11D-EE50-B2D7-F6F4D6E561ED}"/>
              </a:ext>
            </a:extLst>
          </p:cNvPr>
          <p:cNvSpPr txBox="1"/>
          <p:nvPr/>
        </p:nvSpPr>
        <p:spPr>
          <a:xfrm>
            <a:off x="737419" y="1690688"/>
            <a:ext cx="7067990" cy="4524315"/>
          </a:xfrm>
          <a:prstGeom prst="rect">
            <a:avLst/>
          </a:prstGeom>
          <a:noFill/>
        </p:spPr>
        <p:txBody>
          <a:bodyPr wrap="square" rtlCol="0">
            <a:spAutoFit/>
          </a:bodyPr>
          <a:lstStyle/>
          <a:p>
            <a:r>
              <a:rPr lang="en-US" sz="2400" b="1" dirty="0"/>
              <a:t>Input Stream: </a:t>
            </a:r>
            <a:r>
              <a:rPr lang="en-US" sz="2400" dirty="0"/>
              <a:t>This stream consists of 4 ports </a:t>
            </a:r>
          </a:p>
          <a:p>
            <a:pPr marL="914400" lvl="1" indent="-457200">
              <a:buAutoNum type="arabicPeriod"/>
            </a:pPr>
            <a:r>
              <a:rPr lang="en-US" sz="2400" b="1" dirty="0"/>
              <a:t>TVALID: </a:t>
            </a:r>
            <a:r>
              <a:rPr lang="en-US" sz="2400" dirty="0"/>
              <a:t>This port is used to tell the FFT that the given data is correct and it can be processed further.</a:t>
            </a:r>
          </a:p>
          <a:p>
            <a:pPr marL="914400" lvl="1" indent="-457200">
              <a:buAutoNum type="arabicPeriod"/>
            </a:pPr>
            <a:r>
              <a:rPr lang="en-US" sz="2400" b="1" dirty="0"/>
              <a:t>TREADY: </a:t>
            </a:r>
            <a:r>
              <a:rPr lang="en-US" sz="2400" dirty="0"/>
              <a:t>This port is used by FFT IP to sent the Ready signal to the PS which indicate that FFT is ready to process the given data. </a:t>
            </a:r>
          </a:p>
          <a:p>
            <a:pPr marL="914400" lvl="1" indent="-457200">
              <a:buAutoNum type="arabicPeriod"/>
            </a:pPr>
            <a:r>
              <a:rPr lang="en-US" sz="2400" b="1" dirty="0"/>
              <a:t>TDATA: </a:t>
            </a:r>
            <a:r>
              <a:rPr lang="en-US" sz="2400" dirty="0"/>
              <a:t>The data sent by PS is of 64-bits 32-bits for real part and 32-bits for imaginary part.</a:t>
            </a:r>
          </a:p>
          <a:p>
            <a:pPr marL="914400" lvl="1" indent="-457200">
              <a:buAutoNum type="arabicPeriod"/>
            </a:pPr>
            <a:r>
              <a:rPr lang="en-US" sz="2400" b="1" dirty="0"/>
              <a:t>TLAST: </a:t>
            </a:r>
            <a:r>
              <a:rPr lang="en-US" sz="2400" dirty="0"/>
              <a:t>Last signal sent by the PS is to indicate FFT IP  that last data which need to be processed has been sent.</a:t>
            </a:r>
            <a:endParaRPr lang="en-US" sz="2400" b="1" dirty="0"/>
          </a:p>
        </p:txBody>
      </p:sp>
      <p:sp>
        <p:nvSpPr>
          <p:cNvPr id="7" name="Rectangle 6">
            <a:extLst>
              <a:ext uri="{FF2B5EF4-FFF2-40B4-BE49-F238E27FC236}">
                <a16:creationId xmlns:a16="http://schemas.microsoft.com/office/drawing/2014/main" id="{EF3430B8-6354-9656-985A-BE7BB48FD48F}"/>
              </a:ext>
            </a:extLst>
          </p:cNvPr>
          <p:cNvSpPr/>
          <p:nvPr/>
        </p:nvSpPr>
        <p:spPr>
          <a:xfrm>
            <a:off x="8046826" y="3075037"/>
            <a:ext cx="1532778" cy="70792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82551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9982B-221A-FB63-0B81-4F66CB94A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8EA89B-E335-40DC-2ECF-00946F98BBA4}"/>
              </a:ext>
            </a:extLst>
          </p:cNvPr>
          <p:cNvSpPr>
            <a:spLocks noGrp="1"/>
          </p:cNvSpPr>
          <p:nvPr>
            <p:ph type="title"/>
          </p:nvPr>
        </p:nvSpPr>
        <p:spPr/>
        <p:txBody>
          <a:bodyPr/>
          <a:lstStyle/>
          <a:p>
            <a:r>
              <a:rPr lang="en-US" b="1" dirty="0"/>
              <a:t>Block Design</a:t>
            </a:r>
            <a:endParaRPr lang="en-IN" b="1" dirty="0"/>
          </a:p>
        </p:txBody>
      </p:sp>
      <p:pic>
        <p:nvPicPr>
          <p:cNvPr id="5" name="Content Placeholder 4">
            <a:extLst>
              <a:ext uri="{FF2B5EF4-FFF2-40B4-BE49-F238E27FC236}">
                <a16:creationId xmlns:a16="http://schemas.microsoft.com/office/drawing/2014/main" id="{A145EA59-44F7-8519-8066-2F7A327A11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06190" y="2345861"/>
            <a:ext cx="4147017" cy="2166277"/>
          </a:xfrm>
        </p:spPr>
      </p:pic>
      <p:sp>
        <p:nvSpPr>
          <p:cNvPr id="6" name="TextBox 5">
            <a:extLst>
              <a:ext uri="{FF2B5EF4-FFF2-40B4-BE49-F238E27FC236}">
                <a16:creationId xmlns:a16="http://schemas.microsoft.com/office/drawing/2014/main" id="{CC8C4A46-D88B-2F2D-5F77-15FA639D2428}"/>
              </a:ext>
            </a:extLst>
          </p:cNvPr>
          <p:cNvSpPr txBox="1"/>
          <p:nvPr/>
        </p:nvSpPr>
        <p:spPr>
          <a:xfrm>
            <a:off x="737419" y="1690688"/>
            <a:ext cx="7067990" cy="3785652"/>
          </a:xfrm>
          <a:prstGeom prst="rect">
            <a:avLst/>
          </a:prstGeom>
          <a:noFill/>
        </p:spPr>
        <p:txBody>
          <a:bodyPr wrap="square" rtlCol="0">
            <a:spAutoFit/>
          </a:bodyPr>
          <a:lstStyle/>
          <a:p>
            <a:r>
              <a:rPr lang="en-US" sz="2400" b="1" dirty="0"/>
              <a:t>Output Stream: </a:t>
            </a:r>
            <a:r>
              <a:rPr lang="en-US" sz="2400" dirty="0"/>
              <a:t>This stream consists of 4 ports </a:t>
            </a:r>
          </a:p>
          <a:p>
            <a:pPr marL="914400" lvl="1" indent="-457200">
              <a:buAutoNum type="arabicPeriod"/>
            </a:pPr>
            <a:r>
              <a:rPr lang="en-US" sz="2400" b="1" dirty="0"/>
              <a:t>TVALID: </a:t>
            </a:r>
            <a:r>
              <a:rPr lang="en-US" sz="2400" dirty="0"/>
              <a:t>This port is used to sent the signal to the PS that the given data is correct.</a:t>
            </a:r>
          </a:p>
          <a:p>
            <a:pPr marL="914400" lvl="1" indent="-457200">
              <a:buAutoNum type="arabicPeriod"/>
            </a:pPr>
            <a:r>
              <a:rPr lang="en-US" sz="2400" b="1" dirty="0"/>
              <a:t>TREADY: </a:t>
            </a:r>
            <a:r>
              <a:rPr lang="en-US" sz="2400" dirty="0"/>
              <a:t>This port get the ready signal from PS, that indicate it is ready to take the data.</a:t>
            </a:r>
          </a:p>
          <a:p>
            <a:pPr marL="914400" lvl="1" indent="-457200">
              <a:buAutoNum type="arabicPeriod"/>
            </a:pPr>
            <a:r>
              <a:rPr lang="en-US" sz="2400" b="1" dirty="0"/>
              <a:t>TDATA: </a:t>
            </a:r>
            <a:r>
              <a:rPr lang="en-US" sz="2400" dirty="0"/>
              <a:t>The data processed by FFT is of 64-bits 32-bits for real part and 32-bits for imaginary part, which is sent by this port.</a:t>
            </a:r>
          </a:p>
          <a:p>
            <a:pPr marL="914400" lvl="1" indent="-457200">
              <a:buAutoNum type="arabicPeriod"/>
            </a:pPr>
            <a:r>
              <a:rPr lang="en-US" sz="2400" b="1" dirty="0"/>
              <a:t>TLAST: </a:t>
            </a:r>
            <a:r>
              <a:rPr lang="en-US" sz="2400" dirty="0"/>
              <a:t>Last signal sent by the FFT is used to indicate PS that last data has been sent.</a:t>
            </a:r>
            <a:endParaRPr lang="en-US" sz="2400" b="1" dirty="0"/>
          </a:p>
        </p:txBody>
      </p:sp>
      <p:sp>
        <p:nvSpPr>
          <p:cNvPr id="7" name="Rectangle 6">
            <a:extLst>
              <a:ext uri="{FF2B5EF4-FFF2-40B4-BE49-F238E27FC236}">
                <a16:creationId xmlns:a16="http://schemas.microsoft.com/office/drawing/2014/main" id="{6FAB51F0-472B-3D9A-A63D-BE47F4986B6A}"/>
              </a:ext>
            </a:extLst>
          </p:cNvPr>
          <p:cNvSpPr/>
          <p:nvPr/>
        </p:nvSpPr>
        <p:spPr>
          <a:xfrm>
            <a:off x="10367239" y="3244922"/>
            <a:ext cx="1532778" cy="707923"/>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06678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B5605-9024-B9BD-98C3-9F7FDFA366C2}"/>
              </a:ext>
            </a:extLst>
          </p:cNvPr>
          <p:cNvSpPr>
            <a:spLocks noGrp="1"/>
          </p:cNvSpPr>
          <p:nvPr>
            <p:ph type="title"/>
          </p:nvPr>
        </p:nvSpPr>
        <p:spPr/>
        <p:txBody>
          <a:bodyPr/>
          <a:lstStyle/>
          <a:p>
            <a:r>
              <a:rPr lang="en-US" b="1" dirty="0"/>
              <a:t>Results </a:t>
            </a:r>
            <a:endParaRPr lang="en-IN" b="1" dirty="0"/>
          </a:p>
        </p:txBody>
      </p:sp>
      <p:sp>
        <p:nvSpPr>
          <p:cNvPr id="3" name="Content Placeholder 2">
            <a:extLst>
              <a:ext uri="{FF2B5EF4-FFF2-40B4-BE49-F238E27FC236}">
                <a16:creationId xmlns:a16="http://schemas.microsoft.com/office/drawing/2014/main" id="{B024F45C-19D0-2E62-41CD-D602150F772A}"/>
              </a:ext>
            </a:extLst>
          </p:cNvPr>
          <p:cNvSpPr>
            <a:spLocks noGrp="1"/>
          </p:cNvSpPr>
          <p:nvPr>
            <p:ph idx="1"/>
          </p:nvPr>
        </p:nvSpPr>
        <p:spPr>
          <a:xfrm>
            <a:off x="838200" y="1825625"/>
            <a:ext cx="10515600" cy="1822143"/>
          </a:xfrm>
        </p:spPr>
        <p:txBody>
          <a:bodyPr/>
          <a:lstStyle/>
          <a:p>
            <a:r>
              <a:rPr lang="en-US" dirty="0"/>
              <a:t>After completing the code for FFT synthesis we run C simulation</a:t>
            </a:r>
          </a:p>
          <a:p>
            <a:pPr lvl="1"/>
            <a:r>
              <a:rPr lang="en-US" b="1" dirty="0"/>
              <a:t>C simulation</a:t>
            </a:r>
            <a:r>
              <a:rPr lang="en-US" dirty="0"/>
              <a:t>: This process is used the verify the functionality of hardware design. This step ensures that the code behaves as intended and produces the correct outputs for given inputs.</a:t>
            </a:r>
            <a:endParaRPr lang="en-IN" dirty="0"/>
          </a:p>
        </p:txBody>
      </p:sp>
      <p:pic>
        <p:nvPicPr>
          <p:cNvPr id="5" name="Picture 4">
            <a:extLst>
              <a:ext uri="{FF2B5EF4-FFF2-40B4-BE49-F238E27FC236}">
                <a16:creationId xmlns:a16="http://schemas.microsoft.com/office/drawing/2014/main" id="{2E213DF1-FE36-CDB6-D0D2-E07B5BF1C9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74071" y="3085049"/>
            <a:ext cx="3936615" cy="1349299"/>
          </a:xfrm>
          <a:prstGeom prst="rect">
            <a:avLst/>
          </a:prstGeom>
        </p:spPr>
      </p:pic>
      <p:sp>
        <p:nvSpPr>
          <p:cNvPr id="6" name="TextBox 5">
            <a:extLst>
              <a:ext uri="{FF2B5EF4-FFF2-40B4-BE49-F238E27FC236}">
                <a16:creationId xmlns:a16="http://schemas.microsoft.com/office/drawing/2014/main" id="{586D4DA3-DA67-ECCC-7973-E0F207F91572}"/>
              </a:ext>
            </a:extLst>
          </p:cNvPr>
          <p:cNvSpPr txBox="1"/>
          <p:nvPr/>
        </p:nvSpPr>
        <p:spPr>
          <a:xfrm>
            <a:off x="641666" y="3647768"/>
            <a:ext cx="6489291" cy="2308324"/>
          </a:xfrm>
          <a:prstGeom prst="rect">
            <a:avLst/>
          </a:prstGeom>
          <a:noFill/>
        </p:spPr>
        <p:txBody>
          <a:bodyPr wrap="square" rtlCol="0">
            <a:spAutoFit/>
          </a:bodyPr>
          <a:lstStyle/>
          <a:p>
            <a:r>
              <a:rPr lang="en-US" sz="2400" dirty="0"/>
              <a:t>After successfully completing the C-simulation step we run </a:t>
            </a:r>
            <a:r>
              <a:rPr lang="en-US" sz="2400" b="1" dirty="0"/>
              <a:t>C synthesis </a:t>
            </a:r>
            <a:r>
              <a:rPr lang="en-US" sz="2400" dirty="0"/>
              <a:t>which convert the C++ code to Hardware Description Language (HDL) Verilog.</a:t>
            </a:r>
          </a:p>
          <a:p>
            <a:endParaRPr lang="en-US" sz="2400" dirty="0"/>
          </a:p>
          <a:p>
            <a:r>
              <a:rPr lang="en-US" sz="2400" dirty="0"/>
              <a:t>After competing all these we finally export the synthesized FFT IP to Vivado </a:t>
            </a:r>
            <a:endParaRPr lang="en-IN" sz="2400" dirty="0"/>
          </a:p>
        </p:txBody>
      </p:sp>
    </p:spTree>
    <p:extLst>
      <p:ext uri="{BB962C8B-B14F-4D97-AF65-F5344CB8AC3E}">
        <p14:creationId xmlns:p14="http://schemas.microsoft.com/office/powerpoint/2010/main" val="1790703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5A7B2-A6B3-8022-9B42-E3FED7B382E5}"/>
              </a:ext>
            </a:extLst>
          </p:cNvPr>
          <p:cNvSpPr>
            <a:spLocks noGrp="1"/>
          </p:cNvSpPr>
          <p:nvPr>
            <p:ph type="title"/>
          </p:nvPr>
        </p:nvSpPr>
        <p:spPr/>
        <p:txBody>
          <a:bodyPr/>
          <a:lstStyle/>
          <a:p>
            <a:r>
              <a:rPr lang="en-US" dirty="0"/>
              <a:t>Results </a:t>
            </a:r>
            <a:endParaRPr lang="en-IN" dirty="0"/>
          </a:p>
        </p:txBody>
      </p:sp>
      <p:sp>
        <p:nvSpPr>
          <p:cNvPr id="3" name="Content Placeholder 2">
            <a:extLst>
              <a:ext uri="{FF2B5EF4-FFF2-40B4-BE49-F238E27FC236}">
                <a16:creationId xmlns:a16="http://schemas.microsoft.com/office/drawing/2014/main" id="{6FA653C2-3E5B-AE10-F7C8-78F1F503E159}"/>
              </a:ext>
            </a:extLst>
          </p:cNvPr>
          <p:cNvSpPr>
            <a:spLocks noGrp="1"/>
          </p:cNvSpPr>
          <p:nvPr>
            <p:ph idx="1"/>
          </p:nvPr>
        </p:nvSpPr>
        <p:spPr/>
        <p:txBody>
          <a:bodyPr/>
          <a:lstStyle/>
          <a:p>
            <a:r>
              <a:rPr lang="en-US" dirty="0"/>
              <a:t>To furthermore verify the functionality of the exported IP, we created the block design to  compute the FFT of the 8 complex samples using ZYNQ and compare the outputs of PS and PL(FPGA) part </a:t>
            </a:r>
            <a:endParaRPr lang="en-IN" dirty="0"/>
          </a:p>
        </p:txBody>
      </p:sp>
      <p:pic>
        <p:nvPicPr>
          <p:cNvPr id="5" name="Picture 4">
            <a:extLst>
              <a:ext uri="{FF2B5EF4-FFF2-40B4-BE49-F238E27FC236}">
                <a16:creationId xmlns:a16="http://schemas.microsoft.com/office/drawing/2014/main" id="{AA983672-EA89-3DD4-775D-2179B0AA1039}"/>
              </a:ext>
            </a:extLst>
          </p:cNvPr>
          <p:cNvPicPr>
            <a:picLocks noChangeAspect="1"/>
          </p:cNvPicPr>
          <p:nvPr/>
        </p:nvPicPr>
        <p:blipFill>
          <a:blip r:embed="rId2">
            <a:alphaModFix/>
          </a:blip>
          <a:stretch>
            <a:fillRect/>
          </a:stretch>
        </p:blipFill>
        <p:spPr>
          <a:xfrm>
            <a:off x="5299587" y="3124706"/>
            <a:ext cx="6400800" cy="2673543"/>
          </a:xfrm>
          <a:prstGeom prst="rect">
            <a:avLst/>
          </a:prstGeom>
        </p:spPr>
      </p:pic>
    </p:spTree>
    <p:extLst>
      <p:ext uri="{BB962C8B-B14F-4D97-AF65-F5344CB8AC3E}">
        <p14:creationId xmlns:p14="http://schemas.microsoft.com/office/powerpoint/2010/main" val="3025514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FE51E-C688-1114-6B90-788716698722}"/>
              </a:ext>
            </a:extLst>
          </p:cNvPr>
          <p:cNvSpPr>
            <a:spLocks noGrp="1"/>
          </p:cNvSpPr>
          <p:nvPr>
            <p:ph type="title"/>
          </p:nvPr>
        </p:nvSpPr>
        <p:spPr/>
        <p:txBody>
          <a:bodyPr/>
          <a:lstStyle/>
          <a:p>
            <a:r>
              <a:rPr lang="en-US" dirty="0"/>
              <a:t>Results and Comparison</a:t>
            </a:r>
            <a:endParaRPr lang="en-IN" dirty="0"/>
          </a:p>
        </p:txBody>
      </p:sp>
      <p:pic>
        <p:nvPicPr>
          <p:cNvPr id="5" name="Content Placeholder 4">
            <a:extLst>
              <a:ext uri="{FF2B5EF4-FFF2-40B4-BE49-F238E27FC236}">
                <a16:creationId xmlns:a16="http://schemas.microsoft.com/office/drawing/2014/main" id="{345CB9EC-CEE9-D4EA-41C1-5F25533811EC}"/>
              </a:ext>
            </a:extLst>
          </p:cNvPr>
          <p:cNvPicPr>
            <a:picLocks noGrp="1" noChangeAspect="1"/>
          </p:cNvPicPr>
          <p:nvPr>
            <p:ph idx="1"/>
          </p:nvPr>
        </p:nvPicPr>
        <p:blipFill>
          <a:blip r:embed="rId2"/>
          <a:stretch>
            <a:fillRect/>
          </a:stretch>
        </p:blipFill>
        <p:spPr>
          <a:xfrm>
            <a:off x="6317228" y="1414777"/>
            <a:ext cx="5797603" cy="2978944"/>
          </a:xfrm>
        </p:spPr>
      </p:pic>
      <p:sp>
        <p:nvSpPr>
          <p:cNvPr id="8" name="TextBox 7">
            <a:extLst>
              <a:ext uri="{FF2B5EF4-FFF2-40B4-BE49-F238E27FC236}">
                <a16:creationId xmlns:a16="http://schemas.microsoft.com/office/drawing/2014/main" id="{5DFEFD57-B7DE-FA1E-5976-099AD83CBBD5}"/>
              </a:ext>
            </a:extLst>
          </p:cNvPr>
          <p:cNvSpPr txBox="1"/>
          <p:nvPr/>
        </p:nvSpPr>
        <p:spPr>
          <a:xfrm>
            <a:off x="319548" y="2056014"/>
            <a:ext cx="5555226" cy="1446550"/>
          </a:xfrm>
          <a:prstGeom prst="rect">
            <a:avLst/>
          </a:prstGeom>
          <a:noFill/>
        </p:spPr>
        <p:txBody>
          <a:bodyPr wrap="square" rtlCol="0">
            <a:spAutoFit/>
          </a:bodyPr>
          <a:lstStyle/>
          <a:p>
            <a:r>
              <a:rPr lang="en-US" sz="2200" b="1" dirty="0"/>
              <a:t>Running the FFT on PS and PL:</a:t>
            </a:r>
          </a:p>
          <a:p>
            <a:r>
              <a:rPr lang="en-US" sz="2200" dirty="0"/>
              <a:t>After running the code in PS and PL we get the same output for PS and PL which verifies that our synthesized IP is running fine.</a:t>
            </a:r>
            <a:endParaRPr lang="en-IN" sz="2200" dirty="0"/>
          </a:p>
        </p:txBody>
      </p:sp>
      <p:sp>
        <p:nvSpPr>
          <p:cNvPr id="9" name="TextBox 8">
            <a:extLst>
              <a:ext uri="{FF2B5EF4-FFF2-40B4-BE49-F238E27FC236}">
                <a16:creationId xmlns:a16="http://schemas.microsoft.com/office/drawing/2014/main" id="{8143F8C9-A3CB-4D6A-6931-81E17DFAEFF0}"/>
              </a:ext>
            </a:extLst>
          </p:cNvPr>
          <p:cNvSpPr txBox="1"/>
          <p:nvPr/>
        </p:nvSpPr>
        <p:spPr>
          <a:xfrm>
            <a:off x="357510" y="4150109"/>
            <a:ext cx="5161935" cy="707886"/>
          </a:xfrm>
          <a:prstGeom prst="rect">
            <a:avLst/>
          </a:prstGeom>
          <a:noFill/>
        </p:spPr>
        <p:txBody>
          <a:bodyPr wrap="square" rtlCol="0">
            <a:spAutoFit/>
          </a:bodyPr>
          <a:lstStyle/>
          <a:p>
            <a:r>
              <a:rPr lang="en-US" sz="2200" b="1" dirty="0"/>
              <a:t>MATLAB outputs for same inputs  </a:t>
            </a:r>
            <a:endParaRPr lang="en-IN" sz="2200" b="1" dirty="0"/>
          </a:p>
          <a:p>
            <a:endParaRPr lang="en-US" dirty="0"/>
          </a:p>
        </p:txBody>
      </p:sp>
      <p:pic>
        <p:nvPicPr>
          <p:cNvPr id="11" name="Picture 10">
            <a:extLst>
              <a:ext uri="{FF2B5EF4-FFF2-40B4-BE49-F238E27FC236}">
                <a16:creationId xmlns:a16="http://schemas.microsoft.com/office/drawing/2014/main" id="{454E8B29-CDF2-8E60-0357-3EF9E7F5461A}"/>
              </a:ext>
            </a:extLst>
          </p:cNvPr>
          <p:cNvPicPr>
            <a:picLocks noChangeAspect="1"/>
          </p:cNvPicPr>
          <p:nvPr/>
        </p:nvPicPr>
        <p:blipFill>
          <a:blip r:embed="rId3"/>
          <a:stretch>
            <a:fillRect/>
          </a:stretch>
        </p:blipFill>
        <p:spPr>
          <a:xfrm>
            <a:off x="216310" y="4637332"/>
            <a:ext cx="6820852" cy="1609950"/>
          </a:xfrm>
          <a:prstGeom prst="rect">
            <a:avLst/>
          </a:prstGeom>
        </p:spPr>
      </p:pic>
      <p:sp>
        <p:nvSpPr>
          <p:cNvPr id="12" name="TextBox 11">
            <a:extLst>
              <a:ext uri="{FF2B5EF4-FFF2-40B4-BE49-F238E27FC236}">
                <a16:creationId xmlns:a16="http://schemas.microsoft.com/office/drawing/2014/main" id="{7D4536F3-E224-55BE-C19F-F60B9D37D838}"/>
              </a:ext>
            </a:extLst>
          </p:cNvPr>
          <p:cNvSpPr txBox="1"/>
          <p:nvPr/>
        </p:nvSpPr>
        <p:spPr>
          <a:xfrm>
            <a:off x="7393858" y="4796440"/>
            <a:ext cx="4568571" cy="1938992"/>
          </a:xfrm>
          <a:prstGeom prst="rect">
            <a:avLst/>
          </a:prstGeom>
          <a:noFill/>
        </p:spPr>
        <p:txBody>
          <a:bodyPr wrap="square" rtlCol="0">
            <a:spAutoFit/>
          </a:bodyPr>
          <a:lstStyle/>
          <a:p>
            <a:r>
              <a:rPr lang="en-US" sz="2000" dirty="0"/>
              <a:t>After computing FFT on ARM processor and also on MATLAB we can conclude that our synthesized IP is running fine and our HLS code behaves as intended and produces the correct outputs for given inputs.</a:t>
            </a:r>
            <a:endParaRPr lang="en-IN" sz="2000" dirty="0"/>
          </a:p>
        </p:txBody>
      </p:sp>
    </p:spTree>
    <p:extLst>
      <p:ext uri="{BB962C8B-B14F-4D97-AF65-F5344CB8AC3E}">
        <p14:creationId xmlns:p14="http://schemas.microsoft.com/office/powerpoint/2010/main" val="1539283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8FFA9-0F1A-3955-5AF9-494E9A60137A}"/>
              </a:ext>
            </a:extLst>
          </p:cNvPr>
          <p:cNvSpPr>
            <a:spLocks noGrp="1"/>
          </p:cNvSpPr>
          <p:nvPr>
            <p:ph type="title"/>
          </p:nvPr>
        </p:nvSpPr>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08325E3F-82FA-A848-FCAB-7125D9C111C6}"/>
              </a:ext>
            </a:extLst>
          </p:cNvPr>
          <p:cNvSpPr>
            <a:spLocks noGrp="1"/>
          </p:cNvSpPr>
          <p:nvPr>
            <p:ph idx="1"/>
          </p:nvPr>
        </p:nvSpPr>
        <p:spPr/>
        <p:txBody>
          <a:bodyPr/>
          <a:lstStyle/>
          <a:p>
            <a:pPr marL="0" indent="0">
              <a:buNone/>
            </a:pPr>
            <a:r>
              <a:rPr lang="en-US" dirty="0"/>
              <a:t>This project provided a deep understanding of Vivado HLS tools, which helped me in the development of an 8-point FFT IP. I gained hands-on experience in HLS workflows, simulation, and synthesis. The FFT IP has potential applications in signal processing and communications, with opportunities to expand the design for higher-point FFTs.</a:t>
            </a:r>
            <a:endParaRPr lang="en-IN" b="1" dirty="0"/>
          </a:p>
        </p:txBody>
      </p:sp>
    </p:spTree>
    <p:extLst>
      <p:ext uri="{BB962C8B-B14F-4D97-AF65-F5344CB8AC3E}">
        <p14:creationId xmlns:p14="http://schemas.microsoft.com/office/powerpoint/2010/main" val="790515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2CC19-B9F5-CFB5-CC89-4CD3A4BBBBEC}"/>
              </a:ext>
            </a:extLst>
          </p:cNvPr>
          <p:cNvSpPr>
            <a:spLocks noGrp="1"/>
          </p:cNvSpPr>
          <p:nvPr>
            <p:ph type="title"/>
          </p:nvPr>
        </p:nvSpPr>
        <p:spPr/>
        <p:txBody>
          <a:bodyPr/>
          <a:lstStyle/>
          <a:p>
            <a:r>
              <a:rPr lang="en-US" b="1" dirty="0"/>
              <a:t>References</a:t>
            </a:r>
            <a:endParaRPr lang="en-IN" b="1" dirty="0"/>
          </a:p>
        </p:txBody>
      </p:sp>
      <p:sp>
        <p:nvSpPr>
          <p:cNvPr id="3" name="Content Placeholder 2">
            <a:extLst>
              <a:ext uri="{FF2B5EF4-FFF2-40B4-BE49-F238E27FC236}">
                <a16:creationId xmlns:a16="http://schemas.microsoft.com/office/drawing/2014/main" id="{28DCE49F-510C-16BD-6529-FA2497093D65}"/>
              </a:ext>
            </a:extLst>
          </p:cNvPr>
          <p:cNvSpPr>
            <a:spLocks noGrp="1"/>
          </p:cNvSpPr>
          <p:nvPr>
            <p:ph idx="1"/>
          </p:nvPr>
        </p:nvSpPr>
        <p:spPr/>
        <p:txBody>
          <a:bodyPr/>
          <a:lstStyle/>
          <a:p>
            <a:pPr marL="514350" indent="-514350">
              <a:buAutoNum type="arabicPeriod"/>
            </a:pPr>
            <a:r>
              <a:rPr lang="en-US" dirty="0"/>
              <a:t>Cooley, J.W. &amp; </a:t>
            </a:r>
            <a:r>
              <a:rPr lang="en-IN" dirty="0"/>
              <a:t> Tukey, J. W algorithm for computing Fast Fourier Transform.</a:t>
            </a:r>
          </a:p>
          <a:p>
            <a:pPr marL="514350" indent="-514350">
              <a:buAutoNum type="arabicPeriod"/>
            </a:pPr>
            <a:r>
              <a:rPr lang="en-IN" dirty="0"/>
              <a:t>Advanced Embedded Logic Design lab 8 from YouTube channel A2A labs to learn Vivado HLS</a:t>
            </a:r>
          </a:p>
          <a:p>
            <a:pPr marL="514350" indent="-514350">
              <a:buAutoNum type="arabicPeriod"/>
            </a:pPr>
            <a:r>
              <a:rPr lang="en-IN" dirty="0"/>
              <a:t>ChatGPT for optimization and debugging the code</a:t>
            </a:r>
          </a:p>
        </p:txBody>
      </p:sp>
    </p:spTree>
    <p:extLst>
      <p:ext uri="{BB962C8B-B14F-4D97-AF65-F5344CB8AC3E}">
        <p14:creationId xmlns:p14="http://schemas.microsoft.com/office/powerpoint/2010/main" val="1363800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11E11-5762-3B32-77EB-6E8F92560E53}"/>
              </a:ext>
            </a:extLst>
          </p:cNvPr>
          <p:cNvSpPr>
            <a:spLocks noGrp="1"/>
          </p:cNvSpPr>
          <p:nvPr>
            <p:ph type="title"/>
          </p:nvPr>
        </p:nvSpPr>
        <p:spPr/>
        <p:txBody>
          <a:bodyPr/>
          <a:lstStyle/>
          <a:p>
            <a:r>
              <a:rPr lang="en-US" b="1" dirty="0"/>
              <a:t>Block Design</a:t>
            </a:r>
            <a:endParaRPr lang="en-IN" b="1" dirty="0"/>
          </a:p>
        </p:txBody>
      </p:sp>
      <p:pic>
        <p:nvPicPr>
          <p:cNvPr id="5" name="Content Placeholder 4">
            <a:extLst>
              <a:ext uri="{FF2B5EF4-FFF2-40B4-BE49-F238E27FC236}">
                <a16:creationId xmlns:a16="http://schemas.microsoft.com/office/drawing/2014/main" id="{08A84173-B9AA-46B6-01F4-8B20DB2FA585}"/>
              </a:ext>
            </a:extLst>
          </p:cNvPr>
          <p:cNvPicPr>
            <a:picLocks noGrp="1" noChangeAspect="1"/>
          </p:cNvPicPr>
          <p:nvPr>
            <p:ph idx="1"/>
          </p:nvPr>
        </p:nvPicPr>
        <p:blipFill>
          <a:blip r:embed="rId2"/>
          <a:stretch>
            <a:fillRect/>
          </a:stretch>
        </p:blipFill>
        <p:spPr>
          <a:xfrm>
            <a:off x="926689" y="1317675"/>
            <a:ext cx="9849465" cy="5540325"/>
          </a:xfrm>
        </p:spPr>
      </p:pic>
    </p:spTree>
    <p:extLst>
      <p:ext uri="{BB962C8B-B14F-4D97-AF65-F5344CB8AC3E}">
        <p14:creationId xmlns:p14="http://schemas.microsoft.com/office/powerpoint/2010/main" val="3602855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1F1D3-B764-13E3-DFE9-C709B571001B}"/>
              </a:ext>
            </a:extLst>
          </p:cNvPr>
          <p:cNvSpPr>
            <a:spLocks noGrp="1"/>
          </p:cNvSpPr>
          <p:nvPr>
            <p:ph type="title"/>
          </p:nvPr>
        </p:nvSpPr>
        <p:spPr/>
        <p:txBody>
          <a:bodyPr/>
          <a:lstStyle/>
          <a:p>
            <a:r>
              <a:rPr lang="en-US" b="1" dirty="0"/>
              <a:t>PS and PL output</a:t>
            </a:r>
            <a:endParaRPr lang="en-IN" b="1" dirty="0"/>
          </a:p>
        </p:txBody>
      </p:sp>
      <p:pic>
        <p:nvPicPr>
          <p:cNvPr id="21" name="Content Placeholder 20">
            <a:extLst>
              <a:ext uri="{FF2B5EF4-FFF2-40B4-BE49-F238E27FC236}">
                <a16:creationId xmlns:a16="http://schemas.microsoft.com/office/drawing/2014/main" id="{C9284738-97CA-39DC-5CC2-115A95ABE8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3329" y="1690688"/>
            <a:ext cx="8849851" cy="4978041"/>
          </a:xfrm>
        </p:spPr>
      </p:pic>
    </p:spTree>
    <p:extLst>
      <p:ext uri="{BB962C8B-B14F-4D97-AF65-F5344CB8AC3E}">
        <p14:creationId xmlns:p14="http://schemas.microsoft.com/office/powerpoint/2010/main" val="3256674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673</Words>
  <Application>Microsoft Office PowerPoint</Application>
  <PresentationFormat>Widescreen</PresentationFormat>
  <Paragraphs>51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ELD A+ Project 8-point FFT using HLS </vt:lpstr>
      <vt:lpstr>Introduction to the project</vt:lpstr>
      <vt:lpstr>Block Design</vt:lpstr>
      <vt:lpstr>Block Design</vt:lpstr>
      <vt:lpstr>Block Design</vt:lpstr>
      <vt:lpstr>Results </vt:lpstr>
      <vt:lpstr>Results </vt:lpstr>
      <vt:lpstr>Results and Comparison</vt:lpstr>
      <vt:lpstr>Conclusion</vt:lpstr>
      <vt:lpstr>References</vt:lpstr>
      <vt:lpstr>Block Design</vt:lpstr>
      <vt:lpstr>PS and PL 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rahulkumar20092002rk@gmail.com</dc:creator>
  <cp:lastModifiedBy>rahulkumar20092002rk@gmail.com</cp:lastModifiedBy>
  <cp:revision>2</cp:revision>
  <dcterms:created xsi:type="dcterms:W3CDTF">2024-12-13T19:12:44Z</dcterms:created>
  <dcterms:modified xsi:type="dcterms:W3CDTF">2024-12-14T16:51:36Z</dcterms:modified>
</cp:coreProperties>
</file>